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B1F0D-461B-4C72-B5FD-FA7EEDDDAEC6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35C32-A4F7-4BFD-9421-28D5C37A6E7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6285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20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0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47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86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95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3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9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082CA-F705-F29F-D98E-6F42E4146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1B8C71-3AF1-6177-24B9-61B4DF731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CD6928C-C200-EE7F-6DEB-DCF15FA7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26ADC-B84F-4687-BC8E-849681884B8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2070E47-9739-41CF-3D5C-C91401BD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1311007-EC7C-027F-D318-B6DCE97E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1B77D-C7F9-46E1-9177-45BA3CF2510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216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C9101-C908-65D6-E6CB-6852562E1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6CB254F-1E46-BA62-26DB-078D33B24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E2B6BB4-3D3B-8774-5508-3FB14D760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26ADC-B84F-4687-BC8E-849681884B8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DB34071-2190-0DB7-5049-9F8CEF97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7025E4C-A0A8-BA90-3BD4-086DA7C1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1B77D-C7F9-46E1-9177-45BA3CF2510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71098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9D8B8-7CB3-6F67-BFFD-7CDE91F54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ADDF2F3-E398-0E15-E255-253A40F01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BB62612-9721-0034-F01A-4C29708DE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26ADC-B84F-4687-BC8E-849681884B8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35CEA3D-4EC6-61DD-9A58-B36CC294D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1E2393D-3B48-D02C-BF6F-CC20EA78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1B77D-C7F9-46E1-9177-45BA3CF2510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7134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1D78A9-26D2-C981-AA5F-0A54FC31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97A10EB-AD2F-A213-C078-E423C7F3A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10316341-EFB9-619B-C760-5B45C7D0E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C0A3EDE-9A9A-0471-85D0-8B848DEC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26ADC-B84F-4687-BC8E-849681884B8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13A7602-2A0A-88CD-5039-E99DD456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3CE206A-7AB5-CB20-FCDD-8BA7A620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1B77D-C7F9-46E1-9177-45BA3CF2510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06950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7D3B0-426C-B432-8F23-22E851A2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15E6299-5178-C611-F53F-707B887A5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5C167B7-1BE9-167F-A040-D6BA27F50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4A74573-757F-8461-95FB-F751510B3D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36CE57D-EBD3-425A-1B3B-D59638BE8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AF0878A-60FB-2CE9-74AE-13C0FEA1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26ADC-B84F-4687-BC8E-849681884B8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49BA32A2-5865-A2BA-34F2-E4F590562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366F38C6-DE91-3865-9D40-A4EF9FAC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1B77D-C7F9-46E1-9177-45BA3CF2510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7756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A6347-AEDC-97D9-0587-78E7749C9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B60655AB-0DFE-E608-03E2-95A0D7F18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26ADC-B84F-4687-BC8E-849681884B8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084B6662-0992-26FA-F441-742E77EA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F02A0C2-F480-AD76-58E1-7D605B2C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1B77D-C7F9-46E1-9177-45BA3CF2510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0282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D595F683-CE74-5ECC-2E85-121DB4D1A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26ADC-B84F-4687-BC8E-849681884B8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FE786C2-3A57-D4E7-A53F-860DBF88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DC16FEE-8FC7-67A1-5BF8-BDFC2F680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1B77D-C7F9-46E1-9177-45BA3CF2510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84732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F2DF25-7F03-706A-23A0-BC2719C2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39CBF37-E8E2-2AAA-920C-CDD01984C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313B27C-D285-E236-A168-B2DA24414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4646249F-7263-BB38-85DA-65391DB79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26ADC-B84F-4687-BC8E-849681884B8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7B6EF608-A90E-780C-4312-ED14BDFFD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F0CFB51-2F48-8954-A367-8C0E1804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1B77D-C7F9-46E1-9177-45BA3CF2510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283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EDD86-367C-0DC5-CBDC-7200BE9B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CBA1BB05-721F-102D-3D79-A018C479A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0D55C70-94DC-BF16-52E7-E62DA2E6E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1E7D7AB-691C-0174-9663-310DC961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26ADC-B84F-4687-BC8E-849681884B8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4295C3D-8BDB-829C-2DEF-EADC53B10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71BBEC75-4E82-BBA4-42F4-6C3A3C629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1B77D-C7F9-46E1-9177-45BA3CF2510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5313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C10D1-585C-74A1-A8A8-ECDE8590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0AA3C5B-B810-3C01-BECC-4CC941CF5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9191814-64AD-5E58-EE37-BDBE0AAD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26ADC-B84F-4687-BC8E-849681884B8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00F7C6B-BC87-74DE-8C90-E4B3077AA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16BE995-2366-692A-E494-E77A19E8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1B77D-C7F9-46E1-9177-45BA3CF2510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578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FD5186-4CF5-8CD9-F499-265A6E877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CC23B15-6E06-002A-9686-A7690E70F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60D3856-DE13-4AE5-EB93-5B2A96A8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26ADC-B84F-4687-BC8E-849681884B8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5F6B5F3-ED7F-C883-3C62-949E5CA5E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E7D0DC1-4E92-448F-E9BB-9DF65BD7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1B77D-C7F9-46E1-9177-45BA3CF2510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6048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69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BF914188-2CE8-62C6-9EAD-DF9AF0E0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5835531-83C2-E4A2-E294-F7CDCC40D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630556B-EE2A-E155-F9C3-B4997E2C7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426ADC-B84F-4687-BC8E-849681884B88}" type="datetimeFigureOut">
              <a:rPr lang="pt-PT" smtClean="0"/>
              <a:t>27/07/2026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C0F49E4-78D4-0EB9-6373-10C263718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1A6FAFE-3207-C8ED-9C3F-B3CA7A4EB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1B77D-C7F9-46E1-9177-45BA3CF2510F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7367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 de Redes Neuronais em Hardware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do Silício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f</a:t>
            </a: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 </a:t>
            </a: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x·w + b</a:t>
            </a: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Ponto Fixo Q8.8?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entre precisão de 16 bits e poupança de área face a ponto flutuante</a:t>
            </a:r>
            <a:endParaRPr lang="en-US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 inteiros + 8 fracionários (escala 256) — truncamento vira um simples corte de bits</a:t>
            </a:r>
            <a:endParaRPr lang="en-US" sz="15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com sinal em Complemento para Dois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Q8.8  —  1.0 decimal = 256 = 0x0100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365760"/>
            <a:ext cx="3886200" cy="6035040"/>
          </a:xfrm>
          <a:prstGeom prst="roundRect">
            <a:avLst>
              <a:gd name="adj" fmla="val 1412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8001000" y="5029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 MAC (Multiply-Accumulate)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234440"/>
            <a:ext cx="502920" cy="365760"/>
          </a:xfrm>
          <a:prstGeom prst="ellipse">
            <a:avLst/>
          </a:prstGeom>
          <a:solidFill>
            <a:srgbClr val="3AA6B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8092440" y="1234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32520" y="12161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x0·w0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43900" y="1600200"/>
            <a:ext cx="0" cy="2057400"/>
          </a:xfrm>
          <a:prstGeom prst="line">
            <a:avLst/>
          </a:prstGeom>
          <a:noFill/>
          <a:ln w="12700">
            <a:solidFill>
              <a:srgbClr val="6E7A9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8092440" y="1874520"/>
            <a:ext cx="502920" cy="365760"/>
          </a:xfrm>
          <a:prstGeom prst="ellipse">
            <a:avLst/>
          </a:prstGeom>
          <a:solidFill>
            <a:srgbClr val="3AA6B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8092440" y="18745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18562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x1·w1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43900" y="2240280"/>
            <a:ext cx="0" cy="1417320"/>
          </a:xfrm>
          <a:prstGeom prst="line">
            <a:avLst/>
          </a:prstGeom>
          <a:noFill/>
          <a:ln w="12700">
            <a:solidFill>
              <a:srgbClr val="6E7A9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8092440" y="2514600"/>
            <a:ext cx="502920" cy="365760"/>
          </a:xfrm>
          <a:prstGeom prst="ellipse">
            <a:avLst/>
          </a:prstGeom>
          <a:solidFill>
            <a:srgbClr val="3AA6B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8092440" y="25146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32520" y="2496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x2·w2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43900" y="2880360"/>
            <a:ext cx="0" cy="777240"/>
          </a:xfrm>
          <a:prstGeom prst="line">
            <a:avLst/>
          </a:prstGeom>
          <a:noFill/>
          <a:ln w="12700">
            <a:solidFill>
              <a:srgbClr val="6E7A9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8092440" y="3154680"/>
            <a:ext cx="502920" cy="365760"/>
          </a:xfrm>
          <a:prstGeom prst="ellipse">
            <a:avLst/>
          </a:prstGeom>
          <a:solidFill>
            <a:srgbClr val="3AA6B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8092440" y="3154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32520" y="31363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x3·w3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43900" y="3520440"/>
            <a:ext cx="0" cy="137160"/>
          </a:xfrm>
          <a:prstGeom prst="line">
            <a:avLst/>
          </a:prstGeom>
          <a:noFill/>
          <a:ln w="12700">
            <a:solidFill>
              <a:srgbClr val="6E7A9E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Shape 25"/>
          <p:cNvSpPr/>
          <p:nvPr/>
        </p:nvSpPr>
        <p:spPr>
          <a:xfrm>
            <a:off x="7955280" y="3657600"/>
            <a:ext cx="7772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7955280" y="36576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86968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A6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3900" y="4206240"/>
            <a:ext cx="0" cy="411480"/>
          </a:xfrm>
          <a:prstGeom prst="line">
            <a:avLst/>
          </a:prstGeom>
          <a:noFill/>
          <a:ln w="19050">
            <a:solidFill>
              <a:srgbClr val="6E7A9E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31" name="Shape 29"/>
          <p:cNvSpPr/>
          <p:nvPr/>
        </p:nvSpPr>
        <p:spPr>
          <a:xfrm>
            <a:off x="7955280" y="4617720"/>
            <a:ext cx="777240" cy="502920"/>
          </a:xfrm>
          <a:prstGeom prst="roundRect">
            <a:avLst>
              <a:gd name="adj" fmla="val 10909"/>
            </a:avLst>
          </a:prstGeom>
          <a:solidFill>
            <a:srgbClr val="3AA6B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7955280" y="46177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 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43900" y="5120640"/>
            <a:ext cx="0" cy="365760"/>
          </a:xfrm>
          <a:prstGeom prst="line">
            <a:avLst/>
          </a:prstGeom>
          <a:noFill/>
          <a:ln w="19050">
            <a:solidFill>
              <a:srgbClr val="6E7A9E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7955280" y="54864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001000" y="59893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multiplicadores + somador + ativação, em pipeline síncrono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547938647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RTL e Pipeline Síncrono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de Alto Desempenho e Alinhamento de Dados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ANN_ReLU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 ciclos)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41732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2176272" y="1490472"/>
            <a:ext cx="1728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x, w, b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69664" y="1307592"/>
            <a:ext cx="0" cy="1133856"/>
          </a:xfrm>
          <a:prstGeom prst="line">
            <a:avLst/>
          </a:prstGeom>
          <a:noFill/>
          <a:ln w="25400">
            <a:solidFill>
              <a:srgbClr val="6E7A9E"/>
            </a:solidFill>
            <a:prstDash val="dash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3941064" y="106984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77640" y="1874520"/>
            <a:ext cx="384048" cy="0"/>
          </a:xfrm>
          <a:prstGeom prst="line">
            <a:avLst/>
          </a:prstGeom>
          <a:noFill/>
          <a:ln w="19050">
            <a:solidFill>
              <a:srgbClr val="6E7A9E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4361688" y="141732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3AA6B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434840" y="1490472"/>
            <a:ext cx="1728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+ b_reg2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28232" y="1307592"/>
            <a:ext cx="0" cy="1133856"/>
          </a:xfrm>
          <a:prstGeom prst="line">
            <a:avLst/>
          </a:prstGeom>
          <a:noFill/>
          <a:ln w="25400">
            <a:solidFill>
              <a:srgbClr val="6E7A9E"/>
            </a:solidFill>
            <a:prstDash val="dash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6199632" y="106984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6208" y="1874520"/>
            <a:ext cx="384048" cy="0"/>
          </a:xfrm>
          <a:prstGeom prst="line">
            <a:avLst/>
          </a:prstGeom>
          <a:noFill/>
          <a:ln w="19050">
            <a:solidFill>
              <a:srgbClr val="6E7A9E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6620256" y="141732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693408" y="1490472"/>
            <a:ext cx="1728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+ ReLU → 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ANN_Sigmoid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 ciclos)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03120" y="269748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2176272" y="2770632"/>
            <a:ext cx="1728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x, w, b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9664" y="2587752"/>
            <a:ext cx="0" cy="1133856"/>
          </a:xfrm>
          <a:prstGeom prst="line">
            <a:avLst/>
          </a:prstGeom>
          <a:noFill/>
          <a:ln w="25400">
            <a:solidFill>
              <a:srgbClr val="6E7A9E"/>
            </a:solidFill>
            <a:prstDash val="dash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3941064" y="235000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77640" y="3154680"/>
            <a:ext cx="384048" cy="0"/>
          </a:xfrm>
          <a:prstGeom prst="line">
            <a:avLst/>
          </a:prstGeom>
          <a:noFill/>
          <a:ln w="19050">
            <a:solidFill>
              <a:srgbClr val="6E7A9E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4361688" y="269748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3AA6B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4434840" y="2770632"/>
            <a:ext cx="1728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+ b_reg2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28232" y="2587752"/>
            <a:ext cx="0" cy="1133856"/>
          </a:xfrm>
          <a:prstGeom prst="line">
            <a:avLst/>
          </a:prstGeom>
          <a:noFill/>
          <a:ln w="25400">
            <a:solidFill>
              <a:srgbClr val="6E7A9E"/>
            </a:solidFill>
            <a:prstDash val="dash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6199632" y="235000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36208" y="3154680"/>
            <a:ext cx="384048" cy="0"/>
          </a:xfrm>
          <a:prstGeom prst="line">
            <a:avLst/>
          </a:prstGeom>
          <a:noFill/>
          <a:ln w="19050">
            <a:solidFill>
              <a:srgbClr val="6E7A9E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8" name="Shape 26"/>
          <p:cNvSpPr/>
          <p:nvPr/>
        </p:nvSpPr>
        <p:spPr>
          <a:xfrm>
            <a:off x="6620256" y="269748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6693408" y="2770632"/>
            <a:ext cx="1728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+ flags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86800" y="2587752"/>
            <a:ext cx="0" cy="1133856"/>
          </a:xfrm>
          <a:prstGeom prst="line">
            <a:avLst/>
          </a:prstGeom>
          <a:noFill/>
          <a:ln w="25400">
            <a:solidFill>
              <a:srgbClr val="6E7A9E"/>
            </a:solidFill>
            <a:prstDash val="dash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8458200" y="235000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7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94776" y="3154680"/>
            <a:ext cx="384048" cy="0"/>
          </a:xfrm>
          <a:prstGeom prst="line">
            <a:avLst/>
          </a:prstGeom>
          <a:noFill/>
          <a:ln w="19050">
            <a:solidFill>
              <a:srgbClr val="6E7A9E"/>
            </a:solidFill>
            <a:prstDash val="solid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33" name="Shape 31"/>
          <p:cNvSpPr/>
          <p:nvPr/>
        </p:nvSpPr>
        <p:spPr>
          <a:xfrm>
            <a:off x="8878824" y="269748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3AA6B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8951976" y="2770632"/>
            <a:ext cx="17282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 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+ flags2 → 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11247120" cy="201168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34"/>
          <p:cNvSpPr/>
          <p:nvPr/>
        </p:nvSpPr>
        <p:spPr>
          <a:xfrm>
            <a:off x="685800" y="42519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Estudo de Sincronismo: o Alinhamento do Bias e dos Flags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5800" y="4645152"/>
            <a:ext cx="10789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(x·w) levam 2 ciclos até ficarem prontos — se o bias fosse somado direto na entrada, chegaria adiantado, misturando amostras diferentes em streaming contínuo.</a:t>
            </a:r>
            <a:endParaRPr lang="en-US" sz="130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Correção: bias e flags de saturação ganharam registos extras (b_reg→b_reg2, sat_reg→sat_reg2), atrasando-os exatamente o mesmo número de ciclos que o caminho dos produtos.</a:t>
            </a:r>
            <a:endParaRPr lang="en-US" sz="1300" dirty="0"/>
          </a:p>
          <a:p>
            <a:pPr marL="342900" indent="-342900" algn="l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geral: todo caminho de dados que se encontra no mesmo ponto do circuito precisa do mesmo número de estágios de registo, desde a entrada original.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por simulação (vetores com bias diferentes em ciclos consecutivos) e confirmado pela ausência de violações de timing na síntese.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3855735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de Ativação: O Custo de Implementação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vs. Sigmoide: Duas Estratégias em Silício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94960" cy="1554480"/>
          </a:xfrm>
          <a:prstGeom prst="roundRect">
            <a:avLst>
              <a:gd name="adj" fmla="val 294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822960" y="2322576"/>
            <a:ext cx="4663440" cy="0"/>
          </a:xfrm>
          <a:prstGeom prst="line">
            <a:avLst/>
          </a:prstGeom>
          <a:noFill/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3154680" y="1554480"/>
            <a:ext cx="0" cy="960120"/>
          </a:xfrm>
          <a:prstGeom prst="line">
            <a:avLst/>
          </a:prstGeom>
          <a:noFill/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822960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978408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1133856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1289304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1444752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1600200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1755648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1911096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2066544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2221992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2377440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2532888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2688336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2843784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2999232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3154680" y="232257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3310128" y="2271370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3465576" y="2220163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3621024" y="2168957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Shape 24"/>
          <p:cNvSpPr/>
          <p:nvPr/>
        </p:nvSpPr>
        <p:spPr>
          <a:xfrm>
            <a:off x="3776472" y="2117750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Shape 25"/>
          <p:cNvSpPr/>
          <p:nvPr/>
        </p:nvSpPr>
        <p:spPr>
          <a:xfrm>
            <a:off x="3931920" y="2066544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Shape 26"/>
          <p:cNvSpPr/>
          <p:nvPr/>
        </p:nvSpPr>
        <p:spPr>
          <a:xfrm>
            <a:off x="4087368" y="2015338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Shape 27"/>
          <p:cNvSpPr/>
          <p:nvPr/>
        </p:nvSpPr>
        <p:spPr>
          <a:xfrm>
            <a:off x="4242816" y="1964131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4398264" y="1912925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Shape 29"/>
          <p:cNvSpPr/>
          <p:nvPr/>
        </p:nvSpPr>
        <p:spPr>
          <a:xfrm>
            <a:off x="4553712" y="1861718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Shape 30"/>
          <p:cNvSpPr/>
          <p:nvPr/>
        </p:nvSpPr>
        <p:spPr>
          <a:xfrm>
            <a:off x="4709160" y="1810512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Shape 31"/>
          <p:cNvSpPr/>
          <p:nvPr/>
        </p:nvSpPr>
        <p:spPr>
          <a:xfrm>
            <a:off x="4864608" y="175930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Shape 32"/>
          <p:cNvSpPr/>
          <p:nvPr/>
        </p:nvSpPr>
        <p:spPr>
          <a:xfrm>
            <a:off x="5020056" y="1708099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5" name="Shape 33"/>
          <p:cNvSpPr/>
          <p:nvPr/>
        </p:nvSpPr>
        <p:spPr>
          <a:xfrm>
            <a:off x="5175504" y="1656893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Shape 34"/>
          <p:cNvSpPr/>
          <p:nvPr/>
        </p:nvSpPr>
        <p:spPr>
          <a:xfrm>
            <a:off x="5330952" y="1605686"/>
            <a:ext cx="15544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7" name="Text 35"/>
          <p:cNvSpPr/>
          <p:nvPr/>
        </p:nvSpPr>
        <p:spPr>
          <a:xfrm>
            <a:off x="640080" y="2633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ReLU(x) = max(0, x)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3063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57200" y="342900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quase nulo em silício: comparador do bit de sinal + multiplexador 2:1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memória necessária — lógica puramente combinatória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na síntese: adiciona 0 LUTs extra de tabela, 0 DSPs extra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1371600"/>
            <a:ext cx="5394960" cy="1554480"/>
          </a:xfrm>
          <a:prstGeom prst="roundRect">
            <a:avLst>
              <a:gd name="adj" fmla="val 294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1" name="Shape 39"/>
          <p:cNvSpPr/>
          <p:nvPr/>
        </p:nvSpPr>
        <p:spPr>
          <a:xfrm>
            <a:off x="6675120" y="2403817"/>
            <a:ext cx="4663440" cy="0"/>
          </a:xfrm>
          <a:prstGeom prst="line">
            <a:avLst/>
          </a:prstGeom>
          <a:noFill/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2" name="Shape 40"/>
          <p:cNvSpPr/>
          <p:nvPr/>
        </p:nvSpPr>
        <p:spPr>
          <a:xfrm>
            <a:off x="9006840" y="1554480"/>
            <a:ext cx="0" cy="960120"/>
          </a:xfrm>
          <a:prstGeom prst="line">
            <a:avLst/>
          </a:prstGeom>
          <a:noFill/>
          <a:ln w="12700">
            <a:solidFill>
              <a:srgbClr val="C7CEDD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3" name="Shape 41"/>
          <p:cNvSpPr/>
          <p:nvPr/>
        </p:nvSpPr>
        <p:spPr>
          <a:xfrm>
            <a:off x="6675120" y="2390533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4" name="Shape 42"/>
          <p:cNvSpPr/>
          <p:nvPr/>
        </p:nvSpPr>
        <p:spPr>
          <a:xfrm>
            <a:off x="6791706" y="2387656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5" name="Shape 43"/>
          <p:cNvSpPr/>
          <p:nvPr/>
        </p:nvSpPr>
        <p:spPr>
          <a:xfrm>
            <a:off x="6908292" y="2384174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6" name="Shape 44"/>
          <p:cNvSpPr/>
          <p:nvPr/>
        </p:nvSpPr>
        <p:spPr>
          <a:xfrm>
            <a:off x="7024878" y="2379965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7" name="Shape 45"/>
          <p:cNvSpPr/>
          <p:nvPr/>
        </p:nvSpPr>
        <p:spPr>
          <a:xfrm>
            <a:off x="7141464" y="2374891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8" name="Shape 46"/>
          <p:cNvSpPr/>
          <p:nvPr/>
        </p:nvSpPr>
        <p:spPr>
          <a:xfrm>
            <a:off x="7258050" y="2368790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9" name="Shape 47"/>
          <p:cNvSpPr/>
          <p:nvPr/>
        </p:nvSpPr>
        <p:spPr>
          <a:xfrm>
            <a:off x="7374636" y="2361480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0" name="Shape 48"/>
          <p:cNvSpPr/>
          <p:nvPr/>
        </p:nvSpPr>
        <p:spPr>
          <a:xfrm>
            <a:off x="7491222" y="2352754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1" name="Shape 49"/>
          <p:cNvSpPr/>
          <p:nvPr/>
        </p:nvSpPr>
        <p:spPr>
          <a:xfrm>
            <a:off x="7607808" y="2342389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2" name="Shape 50"/>
          <p:cNvSpPr/>
          <p:nvPr/>
        </p:nvSpPr>
        <p:spPr>
          <a:xfrm>
            <a:off x="7724394" y="2330146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3" name="Shape 51"/>
          <p:cNvSpPr/>
          <p:nvPr/>
        </p:nvSpPr>
        <p:spPr>
          <a:xfrm>
            <a:off x="7840980" y="2315779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4" name="Shape 52"/>
          <p:cNvSpPr/>
          <p:nvPr/>
        </p:nvSpPr>
        <p:spPr>
          <a:xfrm>
            <a:off x="7957566" y="2299052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5" name="Shape 53"/>
          <p:cNvSpPr/>
          <p:nvPr/>
        </p:nvSpPr>
        <p:spPr>
          <a:xfrm>
            <a:off x="8074152" y="2279753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6" name="Shape 54"/>
          <p:cNvSpPr/>
          <p:nvPr/>
        </p:nvSpPr>
        <p:spPr>
          <a:xfrm>
            <a:off x="8190738" y="2257719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7" name="Shape 55"/>
          <p:cNvSpPr/>
          <p:nvPr/>
        </p:nvSpPr>
        <p:spPr>
          <a:xfrm>
            <a:off x="8307324" y="2232860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8" name="Shape 56"/>
          <p:cNvSpPr/>
          <p:nvPr/>
        </p:nvSpPr>
        <p:spPr>
          <a:xfrm>
            <a:off x="8423910" y="2205189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9" name="Shape 57"/>
          <p:cNvSpPr/>
          <p:nvPr/>
        </p:nvSpPr>
        <p:spPr>
          <a:xfrm>
            <a:off x="8540496" y="2174846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0" name="Shape 58"/>
          <p:cNvSpPr/>
          <p:nvPr/>
        </p:nvSpPr>
        <p:spPr>
          <a:xfrm>
            <a:off x="8657082" y="2142115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1" name="Shape 59"/>
          <p:cNvSpPr/>
          <p:nvPr/>
        </p:nvSpPr>
        <p:spPr>
          <a:xfrm>
            <a:off x="8773668" y="2107426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2" name="Shape 60"/>
          <p:cNvSpPr/>
          <p:nvPr/>
        </p:nvSpPr>
        <p:spPr>
          <a:xfrm>
            <a:off x="8890254" y="2071345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3" name="Shape 61"/>
          <p:cNvSpPr/>
          <p:nvPr/>
        </p:nvSpPr>
        <p:spPr>
          <a:xfrm>
            <a:off x="9006840" y="2034540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4" name="Shape 62"/>
          <p:cNvSpPr/>
          <p:nvPr/>
        </p:nvSpPr>
        <p:spPr>
          <a:xfrm>
            <a:off x="9123426" y="1997735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5" name="Shape 63"/>
          <p:cNvSpPr/>
          <p:nvPr/>
        </p:nvSpPr>
        <p:spPr>
          <a:xfrm>
            <a:off x="9240012" y="1961654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6" name="Shape 64"/>
          <p:cNvSpPr/>
          <p:nvPr/>
        </p:nvSpPr>
        <p:spPr>
          <a:xfrm>
            <a:off x="9356598" y="1926965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7" name="Shape 65"/>
          <p:cNvSpPr/>
          <p:nvPr/>
        </p:nvSpPr>
        <p:spPr>
          <a:xfrm>
            <a:off x="9473184" y="1894234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8" name="Shape 66"/>
          <p:cNvSpPr/>
          <p:nvPr/>
        </p:nvSpPr>
        <p:spPr>
          <a:xfrm>
            <a:off x="9589770" y="1863891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9" name="Shape 67"/>
          <p:cNvSpPr/>
          <p:nvPr/>
        </p:nvSpPr>
        <p:spPr>
          <a:xfrm>
            <a:off x="9706356" y="1836220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0" name="Shape 68"/>
          <p:cNvSpPr/>
          <p:nvPr/>
        </p:nvSpPr>
        <p:spPr>
          <a:xfrm>
            <a:off x="9822942" y="1811361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1" name="Shape 69"/>
          <p:cNvSpPr/>
          <p:nvPr/>
        </p:nvSpPr>
        <p:spPr>
          <a:xfrm>
            <a:off x="9939528" y="1789327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2" name="Shape 70"/>
          <p:cNvSpPr/>
          <p:nvPr/>
        </p:nvSpPr>
        <p:spPr>
          <a:xfrm>
            <a:off x="10056114" y="1770028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3" name="Shape 71"/>
          <p:cNvSpPr/>
          <p:nvPr/>
        </p:nvSpPr>
        <p:spPr>
          <a:xfrm>
            <a:off x="10172700" y="1753301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4" name="Shape 72"/>
          <p:cNvSpPr/>
          <p:nvPr/>
        </p:nvSpPr>
        <p:spPr>
          <a:xfrm>
            <a:off x="10289286" y="1738934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5" name="Shape 73"/>
          <p:cNvSpPr/>
          <p:nvPr/>
        </p:nvSpPr>
        <p:spPr>
          <a:xfrm>
            <a:off x="10405872" y="1726691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6" name="Shape 74"/>
          <p:cNvSpPr/>
          <p:nvPr/>
        </p:nvSpPr>
        <p:spPr>
          <a:xfrm>
            <a:off x="10522458" y="1716326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7" name="Shape 75"/>
          <p:cNvSpPr/>
          <p:nvPr/>
        </p:nvSpPr>
        <p:spPr>
          <a:xfrm>
            <a:off x="10639044" y="1707600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8" name="Shape 76"/>
          <p:cNvSpPr/>
          <p:nvPr/>
        </p:nvSpPr>
        <p:spPr>
          <a:xfrm>
            <a:off x="10755630" y="1700290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9" name="Shape 77"/>
          <p:cNvSpPr/>
          <p:nvPr/>
        </p:nvSpPr>
        <p:spPr>
          <a:xfrm>
            <a:off x="10872216" y="1694189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0" name="Shape 78"/>
          <p:cNvSpPr/>
          <p:nvPr/>
        </p:nvSpPr>
        <p:spPr>
          <a:xfrm>
            <a:off x="10988802" y="1689115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1" name="Shape 79"/>
          <p:cNvSpPr/>
          <p:nvPr/>
        </p:nvSpPr>
        <p:spPr>
          <a:xfrm>
            <a:off x="11105388" y="1684906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2" name="Shape 80"/>
          <p:cNvSpPr/>
          <p:nvPr/>
        </p:nvSpPr>
        <p:spPr>
          <a:xfrm>
            <a:off x="11221974" y="1681424"/>
            <a:ext cx="116586" cy="0"/>
          </a:xfrm>
          <a:prstGeom prst="line">
            <a:avLst/>
          </a:prstGeom>
          <a:noFill/>
          <a:ln w="28575">
            <a:solidFill>
              <a:srgbClr val="3AA6B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3" name="Text 81"/>
          <p:cNvSpPr/>
          <p:nvPr/>
        </p:nvSpPr>
        <p:spPr>
          <a:xfrm>
            <a:off x="6492240" y="2633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σ(x) = 1 / (1 + e⁻ˣ)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6309360" y="3063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Sigmoide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309360" y="342900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Aproximação por ROM/LUT de 256 posições, pré-calculada em Python (Q8.8)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Sintetizada como lógica distribuída (MUXF7/MUXF8) — 0 Block RAM usado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real: +60% LUTs vs. ReLU, mas apenas −3% de Fmax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457200" y="507492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7" name="Text 85"/>
          <p:cNvSpPr/>
          <p:nvPr/>
        </p:nvSpPr>
        <p:spPr>
          <a:xfrm>
            <a:off x="685800" y="519379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Truque do Mapeamento de Endereço</a:t>
            </a:r>
            <a:endParaRPr lang="en-US" sz="1500" dirty="0"/>
          </a:p>
        </p:txBody>
      </p:sp>
      <p:sp>
        <p:nvSpPr>
          <p:cNvPr id="88" name="Text 86"/>
          <p:cNvSpPr/>
          <p:nvPr/>
        </p:nvSpPr>
        <p:spPr>
          <a:xfrm>
            <a:off x="685800" y="5532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 = (soma_total + 1024) &gt;&gt; 3</a:t>
            </a:r>
            <a:endParaRPr lang="en-US" sz="15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x ∈ [−4.0, +4.0]  (Q8.8: [−1024, +1023])  para 256 endereços  —  x=−4.0→addr=0,  x=0→0.0→addr=128,  x→+4.0→addr=255</a:t>
            </a:r>
            <a:endParaRPr lang="en-US" sz="150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Saturação nos extremos: soma ≤ −1024 → y = 0x0000  |  soma ≥ +1024 → y = 0x0100 (1.0)  —  fora da faixa, a ROM não é consultada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80107489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Verificação Funcional em Streaming Contínuo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Comportamental no Vivado (XSim) — 8 Vetores de Teste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2336" y="1271016"/>
            <a:ext cx="5321808" cy="3041523"/>
          </a:xfrm>
          <a:prstGeom prst="roundRect">
            <a:avLst>
              <a:gd name="adj" fmla="val 120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5" name="Image 0" descr="relu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5212080" cy="29317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80176" y="1271016"/>
            <a:ext cx="5321808" cy="3041523"/>
          </a:xfrm>
          <a:prstGeom prst="roundRect">
            <a:avLst>
              <a:gd name="adj" fmla="val 1203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pic>
        <p:nvPicPr>
          <p:cNvPr id="7" name="Image 1" descr="sigmoid_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325880"/>
            <a:ext cx="5212080" cy="29317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367403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ANN_ReLU — latência de 3 ciclos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035040" y="4367403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ANN_Sigmoid — latência de 4 ciclos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4778883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7"/>
          <p:cNvSpPr/>
          <p:nvPr/>
        </p:nvSpPr>
        <p:spPr>
          <a:xfrm>
            <a:off x="685800" y="4916043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 confirmada fisicamente: y_array acompanha x_array exatamente 3 (ReLU) e 4 (Sigmoide) bordas de clock depois — batendo com a contagem de estágios de registo do RTL.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streaming: bias e flags diferentes aplicados em ciclos consecutivos (ex. V3 com b=−1000 seguido de V4 com b=50) produziram sempre o resultado correto — sem contaminação entre amostras.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8 vetores (4 conferíveis à mão + 4 aleatórios, incluindo saturação) bateram exatamente com o cálculo manual esperado.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20635402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Síntese Lógica na Artix-7 (OOC)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xc7a35tcpg236-1 — Síntese Out-of-Context, Comparativo ReLU vs. Sigmoide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457200" y="1417320"/>
          <a:ext cx="11247120" cy="3200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 LUTs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 (3.27%)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1090 (5.24%)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+410 (+60%)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 Registers (FFs)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1280 (3.08%)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1320 (3.17%)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 (+3%)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(44.44%)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(44.44%)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 (ciclos)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Fmax (via WNS)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≈132.7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≈128.75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−3.95 MHz (−3%)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07492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3"/>
          <p:cNvSpPr/>
          <p:nvPr/>
        </p:nvSpPr>
        <p:spPr>
          <a:xfrm>
            <a:off x="685800" y="52120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Destaque: a ROM não consome Block RAM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5577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de 256 posições da sigmoide foi sintetizada como lógica distribuída (MUXF7/MUXF8 + LUTs), não como memória dedicada — confirma a decisão de replicar a ROM em cada neurônio (paralelismo sem arbitragem de acesso).</a:t>
            </a:r>
            <a:endParaRPr lang="en-US" sz="125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DSPs idênticos entre versões (40) confirmam que só o estágio de ativação final mudou — o bloco MAC é o mesmo.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51527114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Frequência Máxima e Caminho Crítico de Lógica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Temporização (Timing) Pós-Roteamento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ANN_ReLU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≈132.7 MHz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WNS = 2.465 ns  (período de referência 10.000 ns)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496312"/>
            <a:ext cx="4846320" cy="146304"/>
          </a:xfrm>
          <a:prstGeom prst="rect">
            <a:avLst/>
          </a:prstGeom>
          <a:solidFill>
            <a:srgbClr val="E3E8F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731520" y="2496312"/>
            <a:ext cx="4846320" cy="1463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583680" y="14813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ANN_Sigmoid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71907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3AA6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≈128.75 MHz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7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WNS = 2.232 ns  (período de referência 10.000 ns)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0" y="2496312"/>
            <a:ext cx="4846320" cy="146304"/>
          </a:xfrm>
          <a:prstGeom prst="rect">
            <a:avLst/>
          </a:prstGeom>
          <a:solidFill>
            <a:srgbClr val="E3E8F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6583680" y="2496312"/>
            <a:ext cx="4702063" cy="146304"/>
          </a:xfrm>
          <a:prstGeom prst="rect">
            <a:avLst/>
          </a:prstGeom>
          <a:solidFill>
            <a:srgbClr val="3AA6B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do Caminho Crítico (pior caso, Sigmoide — Slack 2.232 ns)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addr_reg_i_30  →  soma_total  →  sat_high_reg   (Data Path Delay total: 7.534 ns)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4932371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5389571" y="3886200"/>
            <a:ext cx="6314749" cy="502920"/>
          </a:xfrm>
          <a:prstGeom prst="rect">
            <a:avLst/>
          </a:prstGeom>
          <a:solidFill>
            <a:srgbClr val="3AA6B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57200" y="3941064"/>
            <a:ext cx="49323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Lógica: 3.304 ns (43.9%)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níveis: 6×CARRY4 + LUT2 + 2×LUT5 + LUT6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89571" y="3941064"/>
            <a:ext cx="63147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Roteamento: 4.230 ns (56.1%)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685800" y="48463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em velocidade não vem da memória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5166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leitura da Sigmoid_ROM é rápida (1 nível de LUT de seleção) — o caminho crítico não passa por ela.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gargalo real é a árvore de comparação dos flags de saturação (sat_low/sat_high), calculada a partir de soma_total — 10 níveis de lógica.</a:t>
            </a:r>
            <a:endParaRPr lang="en-US" sz="12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apenas −3% de Fmax apesar de +60% de LUTs — a complexidade "escondida" está na lógica de decisão, não na tabela.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827643352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Escalabilidade de Hardware e Próximos Passos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3AA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Conclusões, Limites do Paralelismo e Trabalho Futuro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1B245C"/>
          </a:solidFill>
          <a:ln w="12700">
            <a:solidFill>
              <a:srgbClr val="343E7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Ocupação de Recursos — 10 Neurônios (Artix-7 xc7a35t)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LUTs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203704"/>
            <a:ext cx="2514600" cy="201168"/>
          </a:xfrm>
          <a:prstGeom prst="rect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2286000" y="2203704"/>
            <a:ext cx="292811" cy="20116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4892040" y="2148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5.24%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Registers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2706624"/>
            <a:ext cx="2514600" cy="201168"/>
          </a:xfrm>
          <a:prstGeom prst="rect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2286000" y="2706624"/>
            <a:ext cx="177140" cy="20116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4892040" y="2651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3.17%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154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0" y="3209544"/>
            <a:ext cx="2514600" cy="201168"/>
          </a:xfrm>
          <a:prstGeom prst="rect">
            <a:avLst/>
          </a:prstGeom>
          <a:solidFill>
            <a:srgbClr val="2A3570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2286000" y="3209544"/>
            <a:ext cx="2483307" cy="201168"/>
          </a:xfrm>
          <a:prstGeom prst="rect">
            <a:avLst/>
          </a:prstGeom>
          <a:solidFill>
            <a:srgbClr val="E8A87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4892040" y="3154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44.44%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7490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DSPs já a 44% com apenas 1 hidden layer de 10 neurônios — o gargalo de escalabilidade não são as LUTs, é o número de multiplicadores dedicados.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0" y="14630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Limitação do Paralelismo Puro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18288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segunda hidden layer, ou mais neurônios, esgotaria os DSPs desta FPGA rapidamente.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 arquiteturas de reutilização de hardware (time-multiplexing): menos multiplicadores físicos, compartilhados ao longo de vários ciclos, em vez de um MAC dedicado por neurônio.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35040" y="31089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Futuro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34747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saturação contra wrap-around nos produtos truncados (mult[23:8]), hoje sem proteção em overflow extremo.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Paridade completa do fluxo de verificação (Fases 1 e 2) para a versão VHDL, validada hoje apenas em SystemVerilog.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11247120" cy="0"/>
          </a:xfrm>
          <a:prstGeom prst="line">
            <a:avLst/>
          </a:prstGeom>
          <a:noFill/>
          <a:ln w="12700">
            <a:solidFill>
              <a:srgbClr val="343E7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457200" y="5074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equação matemática ao silício roteado: MAC, pipeline sincronizado, ROM de ativação e métricas reais de área e frequência — validado por simulação e síntese.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A6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2200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D630A95-6054-A435-2594-D46ECBF914AA}"/>
              </a:ext>
            </a:extLst>
          </p:cNvPr>
          <p:cNvSpPr txBox="1"/>
          <p:nvPr/>
        </p:nvSpPr>
        <p:spPr>
          <a:xfrm>
            <a:off x="457200" y="4471416"/>
            <a:ext cx="289864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Versão </a:t>
            </a:r>
            <a:r>
              <a:rPr lang="pt-PT" sz="15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Sigmoid</a:t>
            </a:r>
            <a:endParaRPr lang="pt-PT" sz="15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507427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1275</Words>
  <Application>Microsoft Office PowerPoint</Application>
  <PresentationFormat>Ecrã Panorâmico</PresentationFormat>
  <Paragraphs>151</Paragraphs>
  <Slides>7</Slides>
  <Notes>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Cambria</vt:lpstr>
      <vt:lpstr>Courier New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Gala</dc:creator>
  <cp:lastModifiedBy>Henrique Gala</cp:lastModifiedBy>
  <cp:revision>1</cp:revision>
  <dcterms:created xsi:type="dcterms:W3CDTF">2026-07-27T10:47:44Z</dcterms:created>
  <dcterms:modified xsi:type="dcterms:W3CDTF">2026-07-27T10:59:19Z</dcterms:modified>
</cp:coreProperties>
</file>